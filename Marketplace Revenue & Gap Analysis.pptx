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screen4x3"/>
  <p:notesSz cx="6858000" cy="9144000"/>
  <p:embeddedFontLst>
    <p:embeddedFont>
      <p:font typeface="Calibri" panose="020F050202020403020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29275"/>
            <a:ext cx="10972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62927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53475" y="5867400"/>
            <a:ext cx="2828925" cy="3810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100" y="1431726"/>
            <a:ext cx="6858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5" y="5981700"/>
            <a:ext cx="1905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32609" y="2346126"/>
            <a:ext cx="472678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EA5E9"/>
                </a:solidFill>
                <a:latin typeface="Outfit"/>
              </a:rPr>
              <a:t>MARKETPLACE PERFORMANCE</a:t>
            </a:r>
            <a:endParaRPr sz="1800" b="1" i="0" u="none">
              <a:solidFill>
                <a:srgbClr val="0EA5E9"/>
              </a:solidFill>
              <a:latin typeface="Outfi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0540" y="2784276"/>
            <a:ext cx="7350918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Outfit"/>
              </a:rPr>
              <a:t>Revenue Leakage </a:t>
            </a:r>
            <a:r>
              <a:t>
</a:t>
            </a:r>
            <a:r>
              <a:rPr sz="5400" b="1" i="0" u="none">
                <a:solidFill>
                  <a:srgbClr val="F8FAFC"/>
                </a:solidFill>
                <a:latin typeface="Outfit"/>
              </a:rPr>
              <a:t> &amp; Gap Analysis</a:t>
            </a:r>
            <a:endParaRPr sz="5400" b="1" i="0" u="none">
              <a:solidFill>
                <a:srgbClr val="F8FAFC"/>
              </a:solidFill>
              <a:latin typeface="Outfi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69343" y="4521398"/>
            <a:ext cx="74533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94A3B8"/>
                </a:solidFill>
                <a:latin typeface="Outfit"/>
              </a:rPr>
              <a:t>SQL-driven operational audits. Uncovering margin erosion.</a:t>
            </a:r>
            <a:endParaRPr sz="1800" b="0" i="0" u="none">
              <a:solidFill>
                <a:srgbClr val="94A3B8"/>
              </a:solidFill>
              <a:latin typeface="Outfi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5962650"/>
            <a:ext cx="19883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Outfit"/>
              </a:rPr>
              <a:t>Executive Presentation</a:t>
            </a:r>
            <a:endParaRPr sz="1200" b="1" i="0" u="none">
              <a:solidFill>
                <a:srgbClr val="94A3B8"/>
              </a:solidFill>
              <a:latin typeface="Outfi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10675" y="5962650"/>
            <a:ext cx="27265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Outfit"/>
              </a:rPr>
              <a:t>ACCESS LIVE DASHBOARD</a:t>
            </a:r>
            <a:endParaRPr sz="1200" b="1" i="0" u="none">
              <a:solidFill>
                <a:srgbClr val="F8FAFC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29275"/>
            <a:ext cx="10972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629275"/>
            <a:ext cx="109728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53475" y="5867400"/>
            <a:ext cx="2828925" cy="3810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3975" y="5981700"/>
            <a:ext cx="1905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725" y="2399982"/>
            <a:ext cx="304800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725" y="2893377"/>
            <a:ext cx="30480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5" y="4247197"/>
            <a:ext cx="266700" cy="276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0960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Outfit"/>
              </a:rPr>
              <a:t>EXECUTIVE SUMMARY</a:t>
            </a:r>
            <a:endParaRPr sz="1350" b="1" i="0" u="none">
              <a:solidFill>
                <a:srgbClr val="0284C7"/>
              </a:solidFill>
              <a:latin typeface="Outfi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904875"/>
            <a:ext cx="115824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Outfit"/>
              </a:rPr>
              <a:t>Aggregate Profitability Reality</a:t>
            </a:r>
            <a:endParaRPr sz="36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5962650"/>
            <a:ext cx="2071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Outfit"/>
              </a:rPr>
              <a:t>Task 1: Revenue vs Profit</a:t>
            </a:r>
            <a:endParaRPr sz="1200" b="1" i="0" u="none">
              <a:solidFill>
                <a:srgbClr val="64748B"/>
              </a:solidFill>
              <a:latin typeface="Outfi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4170" y="2155190"/>
            <a:ext cx="3793490" cy="1153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 i="0" u="none">
                <a:solidFill>
                  <a:srgbClr val="EA580C"/>
                </a:solidFill>
                <a:latin typeface="Outfit"/>
              </a:rPr>
              <a:t>40.0%</a:t>
            </a:r>
            <a:endParaRPr sz="9000" b="1" i="0" u="none">
              <a:solidFill>
                <a:srgbClr val="EA580C"/>
              </a:solidFill>
              <a:latin typeface="Outfi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3612197"/>
            <a:ext cx="64770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utfit"/>
              </a:rPr>
              <a:t>Global profit margin. ₹2.8M net yield.</a:t>
            </a:r>
            <a:endParaRPr sz="21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10675" y="5962650"/>
            <a:ext cx="27265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Outfit"/>
              </a:rPr>
              <a:t>ACCESS LIVE DASHBOARD</a:t>
            </a:r>
            <a:endParaRPr sz="1200" b="1" i="0" u="none">
              <a:solidFill>
                <a:srgbClr val="0284C7"/>
              </a:solidFill>
              <a:latin typeface="Outfi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14595" y="2385695"/>
            <a:ext cx="53340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utfit"/>
              </a:rPr>
              <a:t>Gross Sales:</a:t>
            </a:r>
            <a:r>
              <a:rPr sz="2100" b="1" i="0" u="none">
                <a:solidFill>
                  <a:srgbClr val="0F172A"/>
                </a:solidFill>
                <a:latin typeface="Outfit"/>
              </a:rPr>
              <a:t> ₹7.04M total revenue generated.</a:t>
            </a:r>
            <a:endParaRPr sz="21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14595" y="2894330"/>
            <a:ext cx="53340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284C7"/>
                </a:solidFill>
                <a:latin typeface="Outfit"/>
              </a:rPr>
              <a:t>Product Costs:</a:t>
            </a:r>
            <a:r>
              <a:rPr sz="2100" b="1" i="0" u="none">
                <a:solidFill>
                  <a:srgbClr val="0284C7"/>
                </a:solidFill>
                <a:latin typeface="Outfit"/>
              </a:rPr>
              <a:t> ₹3.35M base acquisition spend.</a:t>
            </a:r>
            <a:endParaRPr sz="2100" b="1" i="0" u="none">
              <a:solidFill>
                <a:srgbClr val="0284C7"/>
              </a:solidFill>
              <a:latin typeface="Outfi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14595" y="4128135"/>
            <a:ext cx="4857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A580C"/>
                </a:solidFill>
                <a:latin typeface="Outfit"/>
              </a:rPr>
              <a:t>Cost Burden:</a:t>
            </a:r>
            <a:r>
              <a:rPr sz="2100" b="1" i="0" u="none">
                <a:solidFill>
                  <a:srgbClr val="EA580C"/>
                </a:solidFill>
                <a:latin typeface="Outfit"/>
              </a:rPr>
              <a:t> Heavy leakage masking true scalability.</a:t>
            </a:r>
            <a:endParaRPr sz="2100" b="1" i="0" u="none">
              <a:solidFill>
                <a:srgbClr val="EA580C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29275"/>
            <a:ext cx="10972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47950"/>
            <a:ext cx="3441650" cy="2266950"/>
          </a:xfrm>
          <a:prstGeom prst="roundRect">
            <a:avLst>
              <a:gd name="adj" fmla="val 67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050" y="2647950"/>
            <a:ext cx="3441650" cy="2266950"/>
          </a:xfrm>
          <a:prstGeom prst="roundRect">
            <a:avLst>
              <a:gd name="adj" fmla="val 67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02500" y="2628900"/>
            <a:ext cx="3479750" cy="2305050"/>
          </a:xfrm>
          <a:prstGeom prst="roundRect">
            <a:avLst>
              <a:gd name="adj" fmla="val 6611"/>
            </a:avLst>
          </a:prstGeom>
          <a:solidFill>
            <a:srgbClr val="FFF1F2"/>
          </a:solidFill>
          <a:ln w="19050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629275"/>
            <a:ext cx="109728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53475" y="5867400"/>
            <a:ext cx="2828925" cy="3810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3175" y="3028950"/>
            <a:ext cx="51435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626" y="3028950"/>
            <a:ext cx="51435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6551" y="3028950"/>
            <a:ext cx="5715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3975" y="5981700"/>
            <a:ext cx="1905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60960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Outfit"/>
              </a:rPr>
              <a:t>CATEGORY ANALYSIS</a:t>
            </a:r>
            <a:endParaRPr sz="1350" b="1" i="0" u="none">
              <a:solidFill>
                <a:srgbClr val="0284C7"/>
              </a:solidFill>
              <a:latin typeface="Outfi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600" y="904875"/>
            <a:ext cx="115824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Outfit"/>
              </a:rPr>
              <a:t>Margin Volatility Snapshot</a:t>
            </a:r>
            <a:endParaRPr sz="36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9600" y="5962650"/>
            <a:ext cx="23455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Outfit"/>
              </a:rPr>
              <a:t>Task 2 &amp; 13: Margin Stability</a:t>
            </a:r>
            <a:endParaRPr sz="1200" b="1" i="0" u="none">
              <a:solidFill>
                <a:srgbClr val="64748B"/>
              </a:solidFill>
              <a:latin typeface="Outfi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1904" y="3714750"/>
            <a:ext cx="3517041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Outfit"/>
              </a:rPr>
              <a:t>Home</a:t>
            </a:r>
            <a:endParaRPr sz="24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5643" y="4248150"/>
            <a:ext cx="334956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475569"/>
                </a:solidFill>
                <a:latin typeface="Outfit"/>
              </a:rPr>
              <a:t>Peak 44.0% margin.</a:t>
            </a:r>
            <a:endParaRPr sz="1800" b="0" i="0" u="none">
              <a:solidFill>
                <a:srgbClr val="475569"/>
              </a:solidFill>
              <a:latin typeface="Outfi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18355" y="3714750"/>
            <a:ext cx="3517041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Outfit"/>
              </a:rPr>
              <a:t>Grocery</a:t>
            </a:r>
            <a:endParaRPr sz="24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02094" y="4248150"/>
            <a:ext cx="334956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475569"/>
                </a:solidFill>
                <a:latin typeface="Outfit"/>
              </a:rPr>
              <a:t>Stable 43.3% margin.</a:t>
            </a:r>
            <a:endParaRPr sz="1800" b="0" i="0" u="none">
              <a:solidFill>
                <a:srgbClr val="475569"/>
              </a:solidFill>
              <a:latin typeface="Outfi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83855" y="3714750"/>
            <a:ext cx="3517041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E11D48"/>
                </a:solidFill>
                <a:latin typeface="Outfit"/>
              </a:rPr>
              <a:t>Fashion</a:t>
            </a:r>
            <a:endParaRPr sz="2400" b="1" i="0" u="none">
              <a:solidFill>
                <a:srgbClr val="E11D48"/>
              </a:solidFill>
              <a:latin typeface="Outfi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7594" y="4248150"/>
            <a:ext cx="334956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E11D48"/>
                </a:solidFill>
                <a:latin typeface="Outfit"/>
              </a:rPr>
              <a:t>Lagging 34.7% margin.</a:t>
            </a:r>
            <a:endParaRPr sz="1800" b="0" i="0" u="none">
              <a:solidFill>
                <a:srgbClr val="E11D48"/>
              </a:solidFill>
              <a:latin typeface="Outfi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10675" y="5962650"/>
            <a:ext cx="27265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Outfit"/>
              </a:rPr>
              <a:t>ACCESS LIVE DASHBOARD</a:t>
            </a:r>
            <a:endParaRPr sz="1200" b="1" i="0" u="none">
              <a:solidFill>
                <a:srgbClr val="0284C7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29275"/>
            <a:ext cx="10972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09850"/>
            <a:ext cx="5257800" cy="234315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2609850"/>
            <a:ext cx="5257800" cy="234315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629275"/>
            <a:ext cx="109728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53475" y="5867400"/>
            <a:ext cx="2828925" cy="3810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609850"/>
            <a:ext cx="76200" cy="23431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4600" y="2609850"/>
            <a:ext cx="76200" cy="23431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3975" y="5981700"/>
            <a:ext cx="1905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A580C"/>
                </a:solidFill>
                <a:latin typeface="Outfit"/>
              </a:rPr>
              <a:t>PORTFOLIO VULNERABILITIES</a:t>
            </a:r>
            <a:endParaRPr sz="1350" b="1" i="0" u="none">
              <a:solidFill>
                <a:srgbClr val="EA580C"/>
              </a:solidFill>
              <a:latin typeface="Outfi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904875"/>
            <a:ext cx="115824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Outfit"/>
              </a:rPr>
              <a:t>Bottom Performing SKUs</a:t>
            </a:r>
            <a:endParaRPr sz="36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5962650"/>
            <a:ext cx="22145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Outfit"/>
              </a:rPr>
              <a:t>Task 3 &amp; 12: Profit Ranking</a:t>
            </a:r>
            <a:endParaRPr sz="1200" b="1" i="0" u="none">
              <a:solidFill>
                <a:srgbClr val="64748B"/>
              </a:solidFill>
              <a:latin typeface="Outfi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" y="3067050"/>
            <a:ext cx="56007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4748B"/>
                </a:solidFill>
                <a:latin typeface="Outfit"/>
              </a:rPr>
              <a:t>CRITICAL DRAIN</a:t>
            </a:r>
            <a:endParaRPr sz="1800" b="1" i="0" u="none">
              <a:solidFill>
                <a:srgbClr val="64748B"/>
              </a:solidFill>
              <a:latin typeface="Outfi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43000" y="3429000"/>
            <a:ext cx="5334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Outfit"/>
              </a:rPr>
              <a:t>Fashion SKU 521</a:t>
            </a:r>
            <a:endParaRPr sz="30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" y="4114800"/>
            <a:ext cx="5334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E11D48"/>
                </a:solidFill>
                <a:latin typeface="Outfit"/>
              </a:rPr>
              <a:t>-₹8,665 net loss.</a:t>
            </a:r>
            <a:endParaRPr sz="2400" b="1" i="0" u="none">
              <a:solidFill>
                <a:srgbClr val="E11D48"/>
              </a:solidFill>
              <a:latin typeface="Outfi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0" y="3067050"/>
            <a:ext cx="5334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4748B"/>
                </a:solidFill>
                <a:latin typeface="Outfit"/>
              </a:rPr>
              <a:t>SECONDARY DRAIN</a:t>
            </a:r>
            <a:endParaRPr sz="1800" b="1" i="0" u="none">
              <a:solidFill>
                <a:srgbClr val="64748B"/>
              </a:solidFill>
              <a:latin typeface="Outfi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0" y="3429000"/>
            <a:ext cx="5334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Outfit"/>
              </a:rPr>
              <a:t>Electronics SKU 1280</a:t>
            </a:r>
            <a:endParaRPr sz="30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0" y="4114800"/>
            <a:ext cx="5334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EA580C"/>
                </a:solidFill>
                <a:latin typeface="Outfit"/>
              </a:rPr>
              <a:t>-₹6,569 net loss.</a:t>
            </a:r>
            <a:endParaRPr sz="2400" b="1" i="0" u="none">
              <a:solidFill>
                <a:srgbClr val="EA580C"/>
              </a:solidFill>
              <a:latin typeface="Outfi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10675" y="5962650"/>
            <a:ext cx="27265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Outfit"/>
              </a:rPr>
              <a:t>ACCESS LIVE DASHBOARD</a:t>
            </a:r>
            <a:endParaRPr sz="1200" b="1" i="0" u="none">
              <a:solidFill>
                <a:srgbClr val="0284C7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29275"/>
            <a:ext cx="10972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629275"/>
            <a:ext cx="109728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53475" y="5867400"/>
            <a:ext cx="2828925" cy="3810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6330" y="5440045"/>
            <a:ext cx="306070" cy="219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5" y="5981700"/>
            <a:ext cx="1905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790825"/>
            <a:ext cx="3048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438525"/>
            <a:ext cx="3429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086225"/>
            <a:ext cx="304800" cy="3238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Outfit"/>
              </a:rPr>
              <a:t>PROMOTIONAL IMPACT</a:t>
            </a:r>
            <a:endParaRPr sz="1350" b="1" i="0" u="none">
              <a:solidFill>
                <a:srgbClr val="0284C7"/>
              </a:solidFill>
              <a:latin typeface="Outfi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904875"/>
            <a:ext cx="115824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Outfit"/>
              </a:rPr>
              <a:t>Discount Application Overview</a:t>
            </a:r>
            <a:endParaRPr sz="36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600" y="5962650"/>
            <a:ext cx="1952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Outfit"/>
              </a:rPr>
              <a:t>Task 4: Discount Usage</a:t>
            </a:r>
            <a:endParaRPr sz="1200" b="1" i="0" u="none">
              <a:solidFill>
                <a:srgbClr val="64748B"/>
              </a:solidFill>
              <a:latin typeface="Outfi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10675" y="5962650"/>
            <a:ext cx="27265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Outfit"/>
              </a:rPr>
              <a:t>ACCESS LIVE DASHBOARD</a:t>
            </a:r>
            <a:endParaRPr sz="1200" b="1" i="0" u="none">
              <a:solidFill>
                <a:srgbClr val="0284C7"/>
              </a:solidFill>
              <a:latin typeface="Outfi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6800" y="2762250"/>
            <a:ext cx="6091237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284C7"/>
                </a:solidFill>
                <a:latin typeface="Outfit"/>
              </a:rPr>
              <a:t>7,417</a:t>
            </a:r>
            <a:r>
              <a:rPr sz="2400" b="1" i="0" u="none">
                <a:solidFill>
                  <a:srgbClr val="0284C7"/>
                </a:solidFill>
                <a:latin typeface="Outfit"/>
              </a:rPr>
              <a:t> discounted orders.</a:t>
            </a:r>
            <a:endParaRPr sz="2400" b="1" i="0" u="none">
              <a:solidFill>
                <a:srgbClr val="0284C7"/>
              </a:solidFill>
              <a:latin typeface="Outfi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04900" y="3409950"/>
            <a:ext cx="6053137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EA580C"/>
                </a:solidFill>
                <a:latin typeface="Outfit"/>
              </a:rPr>
              <a:t>₹5.73M</a:t>
            </a:r>
            <a:r>
              <a:rPr sz="2400" b="1" i="0" u="none">
                <a:solidFill>
                  <a:srgbClr val="EA580C"/>
                </a:solidFill>
                <a:latin typeface="Outfit"/>
              </a:rPr>
              <a:t> total discount drain.</a:t>
            </a:r>
            <a:endParaRPr sz="2400" b="1" i="0" u="none">
              <a:solidFill>
                <a:srgbClr val="EA580C"/>
              </a:solidFill>
              <a:latin typeface="Outfi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6800" y="4057650"/>
            <a:ext cx="48768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Outfit"/>
              </a:rPr>
              <a:t>Coupons &amp; Festivals:</a:t>
            </a:r>
            <a:r>
              <a:rPr sz="2400" b="1" i="0" u="none">
                <a:solidFill>
                  <a:srgbClr val="0F172A"/>
                </a:solidFill>
                <a:latin typeface="Outfit"/>
              </a:rPr>
              <a:t> Major margin erosion.</a:t>
            </a:r>
            <a:endParaRPr sz="2400" b="1" i="0" u="none">
              <a:solidFill>
                <a:srgbClr val="0F172A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29275"/>
            <a:ext cx="10972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72175" y="2905125"/>
            <a:ext cx="19050" cy="1143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629275"/>
            <a:ext cx="109728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53475" y="5867400"/>
            <a:ext cx="2828925" cy="3810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3975" y="5981700"/>
            <a:ext cx="1905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A580C"/>
                </a:solidFill>
                <a:latin typeface="Outfit"/>
              </a:rPr>
              <a:t>MARGIN ANALYSIS</a:t>
            </a:r>
            <a:endParaRPr sz="1350" b="1" i="0" u="none">
              <a:solidFill>
                <a:srgbClr val="EA580C"/>
              </a:solidFill>
              <a:latin typeface="Outfi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904875"/>
            <a:ext cx="115824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Outfit"/>
              </a:rPr>
              <a:t>Promotional Profit Gap</a:t>
            </a:r>
            <a:endParaRPr sz="36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381000" y="5248275"/>
            <a:ext cx="12954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Outfit"/>
              </a:rPr>
              <a:t>Promotions cannibalize organic margins.</a:t>
            </a:r>
            <a:endParaRPr sz="24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5962650"/>
            <a:ext cx="21193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Outfit"/>
              </a:rPr>
              <a:t>Task 6: Discount vs Profit</a:t>
            </a:r>
            <a:endParaRPr sz="1200" b="1" i="0" u="none">
              <a:solidFill>
                <a:srgbClr val="64748B"/>
              </a:solidFill>
              <a:latin typeface="Outfi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2218" y="2876550"/>
            <a:ext cx="3167062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Outfit"/>
              </a:rPr>
              <a:t>₹1,486</a:t>
            </a:r>
            <a:endParaRPr sz="60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12218" y="3790950"/>
            <a:ext cx="316706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475569"/>
                </a:solidFill>
                <a:latin typeface="Outfit"/>
              </a:rPr>
              <a:t>Full price order average.</a:t>
            </a:r>
            <a:endParaRPr sz="1800" b="1" i="0" u="none">
              <a:solidFill>
                <a:srgbClr val="475569"/>
              </a:solidFill>
              <a:latin typeface="Outfi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55543" y="2876550"/>
            <a:ext cx="3452812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E11D48"/>
                </a:solidFill>
                <a:latin typeface="Outfit"/>
              </a:rPr>
              <a:t>₹722</a:t>
            </a:r>
            <a:endParaRPr sz="6000" b="1" i="0" u="none">
              <a:solidFill>
                <a:srgbClr val="E11D48"/>
              </a:solidFill>
              <a:latin typeface="Outfi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55543" y="3790950"/>
            <a:ext cx="34528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475569"/>
                </a:solidFill>
                <a:latin typeface="Outfit"/>
              </a:rPr>
              <a:t>Discounted order average.</a:t>
            </a:r>
            <a:endParaRPr sz="1800" b="1" i="0" u="none">
              <a:solidFill>
                <a:srgbClr val="475569"/>
              </a:solidFill>
              <a:latin typeface="Outfi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10675" y="5962650"/>
            <a:ext cx="27265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Outfit"/>
              </a:rPr>
              <a:t>ACCESS LIVE DASHBOARD</a:t>
            </a:r>
            <a:endParaRPr sz="1200" b="1" i="0" u="none">
              <a:solidFill>
                <a:srgbClr val="0284C7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29275"/>
            <a:ext cx="10972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629275"/>
            <a:ext cx="109728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53475" y="5867400"/>
            <a:ext cx="2828925" cy="3810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4000500"/>
            <a:ext cx="381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4000500"/>
            <a:ext cx="3810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0" y="4000500"/>
            <a:ext cx="38100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3975" y="5981700"/>
            <a:ext cx="1905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0960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Outfit"/>
              </a:rPr>
              <a:t>REVERSE LOGISTICS</a:t>
            </a:r>
            <a:endParaRPr sz="1350" b="1" i="0" u="none">
              <a:solidFill>
                <a:srgbClr val="0284C7"/>
              </a:solidFill>
              <a:latin typeface="Outfi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904875"/>
            <a:ext cx="115824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Outfit"/>
              </a:rPr>
              <a:t>Return Revenue Impact</a:t>
            </a:r>
            <a:endParaRPr sz="36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5962650"/>
            <a:ext cx="25003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Outfit"/>
              </a:rPr>
              <a:t>Task 7 &amp; 8: Return Breakdown</a:t>
            </a:r>
            <a:endParaRPr sz="1200" b="1" i="0" u="none">
              <a:solidFill>
                <a:srgbClr val="64748B"/>
              </a:solidFill>
              <a:latin typeface="Outfi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238500"/>
            <a:ext cx="3810000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0F172A"/>
                </a:solidFill>
                <a:latin typeface="Outfit"/>
              </a:rPr>
              <a:t>1,290</a:t>
            </a:r>
            <a:endParaRPr sz="48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191000"/>
            <a:ext cx="3810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4748B"/>
                </a:solidFill>
                <a:latin typeface="Outfit"/>
              </a:rPr>
              <a:t>Returned orders.</a:t>
            </a:r>
            <a:endParaRPr sz="1800" b="1" i="0" u="none">
              <a:solidFill>
                <a:srgbClr val="64748B"/>
              </a:solidFill>
              <a:latin typeface="Outfi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3238500"/>
            <a:ext cx="3810000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EA580C"/>
                </a:solidFill>
                <a:latin typeface="Outfit"/>
              </a:rPr>
              <a:t>₹3.68M</a:t>
            </a:r>
            <a:endParaRPr sz="4800" b="1" i="0" u="none">
              <a:solidFill>
                <a:srgbClr val="EA580C"/>
              </a:solidFill>
              <a:latin typeface="Outfi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4191000"/>
            <a:ext cx="3810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4748B"/>
                </a:solidFill>
                <a:latin typeface="Outfit"/>
              </a:rPr>
              <a:t>Revenue at risk.</a:t>
            </a:r>
            <a:endParaRPr sz="1800" b="1" i="0" u="none">
              <a:solidFill>
                <a:srgbClr val="64748B"/>
              </a:solidFill>
              <a:latin typeface="Outfi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0" y="3238500"/>
            <a:ext cx="3810000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E11D48"/>
                </a:solidFill>
                <a:latin typeface="Outfit"/>
              </a:rPr>
              <a:t>₹1.93M</a:t>
            </a:r>
            <a:endParaRPr sz="4800" b="1" i="0" u="none">
              <a:solidFill>
                <a:srgbClr val="E11D48"/>
              </a:solidFill>
              <a:latin typeface="Outfi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0" y="4191000"/>
            <a:ext cx="3810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4748B"/>
                </a:solidFill>
                <a:latin typeface="Outfit"/>
              </a:rPr>
              <a:t>Profit at risk.</a:t>
            </a:r>
            <a:endParaRPr sz="1800" b="1" i="0" u="none">
              <a:solidFill>
                <a:srgbClr val="64748B"/>
              </a:solidFill>
              <a:latin typeface="Outfi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10675" y="5962650"/>
            <a:ext cx="27265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Outfit"/>
              </a:rPr>
              <a:t>ACCESS LIVE DASHBOARD</a:t>
            </a:r>
            <a:endParaRPr sz="1200" b="1" i="0" u="none">
              <a:solidFill>
                <a:srgbClr val="0284C7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29275"/>
            <a:ext cx="10972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38462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938462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938462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629275"/>
            <a:ext cx="109728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53475" y="5867400"/>
            <a:ext cx="2828925" cy="3810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25" y="3252787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725" y="3252787"/>
            <a:ext cx="2286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525" y="3252787"/>
            <a:ext cx="3810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3975" y="5981700"/>
            <a:ext cx="1905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60960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Outfit"/>
              </a:rPr>
              <a:t>TRANSACTIONAL ANOMALIES</a:t>
            </a:r>
            <a:endParaRPr sz="1350" b="1" i="0" u="none">
              <a:solidFill>
                <a:srgbClr val="0284C7"/>
              </a:solidFill>
              <a:latin typeface="Outfi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600" y="904875"/>
            <a:ext cx="115824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Outfit"/>
              </a:rPr>
              <a:t>Payment Method Routing</a:t>
            </a:r>
            <a:endParaRPr sz="36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9600" y="5962650"/>
            <a:ext cx="22264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Outfit"/>
              </a:rPr>
              <a:t>Task 5 &amp; 10: Payment Fees</a:t>
            </a:r>
            <a:endParaRPr sz="1200" b="1" i="0" u="none">
              <a:solidFill>
                <a:srgbClr val="64748B"/>
              </a:solidFill>
              <a:latin typeface="Outfi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3925" y="3709987"/>
            <a:ext cx="377547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INVALID</a:t>
            </a:r>
            <a:endParaRPr sz="18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3925" y="4071937"/>
            <a:ext cx="35956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Outfit"/>
              </a:rPr>
              <a:t>4,471 untracked orders.</a:t>
            </a:r>
            <a:endParaRPr sz="1500" b="0" i="0" u="none">
              <a:solidFill>
                <a:srgbClr val="475569"/>
              </a:solidFill>
              <a:latin typeface="Outfi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57725" y="3709987"/>
            <a:ext cx="377547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Digital Flow</a:t>
            </a:r>
            <a:endParaRPr sz="18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57725" y="4071937"/>
            <a:ext cx="35956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Outfit"/>
              </a:rPr>
              <a:t>High volume concentration.</a:t>
            </a:r>
            <a:endParaRPr sz="1500" b="0" i="0" u="none">
              <a:solidFill>
                <a:srgbClr val="475569"/>
              </a:solidFill>
              <a:latin typeface="Outfi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91525" y="3709987"/>
            <a:ext cx="377547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Gateway Fees</a:t>
            </a:r>
            <a:endParaRPr sz="18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91525" y="4071937"/>
            <a:ext cx="35956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Outfit"/>
              </a:rPr>
              <a:t>Skimming ₹120K profit.</a:t>
            </a:r>
            <a:endParaRPr sz="1500" b="0" i="0" u="none">
              <a:solidFill>
                <a:srgbClr val="475569"/>
              </a:solidFill>
              <a:latin typeface="Outfi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10675" y="5962650"/>
            <a:ext cx="27265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Outfit"/>
              </a:rPr>
              <a:t>ACCESS LIVE DASHBOARD</a:t>
            </a:r>
            <a:endParaRPr sz="1200" b="1" i="0" u="none">
              <a:solidFill>
                <a:srgbClr val="0284C7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810375"/>
            <a:ext cx="10972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810375"/>
            <a:ext cx="109728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53475" y="7048500"/>
            <a:ext cx="2828925" cy="3810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857375"/>
            <a:ext cx="10972800" cy="10668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152775"/>
            <a:ext cx="10972800" cy="10668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448175"/>
            <a:ext cx="10972800" cy="10668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5743575"/>
            <a:ext cx="10972800" cy="10668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3975" y="7162800"/>
            <a:ext cx="1905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5975"/>
            <a:ext cx="609600" cy="609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81375"/>
            <a:ext cx="609600" cy="609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676775"/>
            <a:ext cx="609600" cy="609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972175"/>
            <a:ext cx="609600" cy="609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987" y="2276475"/>
            <a:ext cx="20002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412" y="3571875"/>
            <a:ext cx="25717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125" y="4867275"/>
            <a:ext cx="2857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" y="6162675"/>
            <a:ext cx="2857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60960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A580C"/>
                </a:solidFill>
                <a:latin typeface="Outfit"/>
              </a:rPr>
              <a:t>BOTTOM LINE EROSION</a:t>
            </a:r>
            <a:endParaRPr sz="1350" b="1" i="0" u="none">
              <a:solidFill>
                <a:srgbClr val="EA580C"/>
              </a:solidFill>
              <a:latin typeface="Outfi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9600" y="904875"/>
            <a:ext cx="115824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Outfit"/>
              </a:rPr>
              <a:t>Global Revenue Leakage</a:t>
            </a:r>
            <a:endParaRPr sz="36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9600" y="7143750"/>
            <a:ext cx="2405062" cy="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Outfit"/>
              </a:rPr>
              <a:t>Task 11: Leakage Breakdown</a:t>
            </a:r>
            <a:endParaRPr sz="1200" b="1" i="0" u="none">
              <a:solidFill>
                <a:srgbClr val="64748B"/>
              </a:solidFill>
              <a:latin typeface="Outfi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10675" y="7143750"/>
            <a:ext cx="2726531" cy="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Outfit"/>
              </a:rPr>
              <a:t>ACCESS LIVE DASHBOARD</a:t>
            </a:r>
            <a:endParaRPr sz="1200" b="1" i="0" u="none">
              <a:solidFill>
                <a:srgbClr val="0284C7"/>
              </a:solidFill>
              <a:latin typeface="Outfi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76400" y="2224087"/>
            <a:ext cx="3940968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utfit"/>
              </a:rPr>
              <a:t>Discounts:</a:t>
            </a:r>
            <a:r>
              <a:rPr sz="2100" b="0" i="0" u="none">
                <a:solidFill>
                  <a:srgbClr val="0F172A"/>
                </a:solidFill>
                <a:latin typeface="Outfit"/>
              </a:rPr>
              <a:t> 71.9% total loss.</a:t>
            </a:r>
            <a:endParaRPr sz="2100" b="0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76400" y="3519487"/>
            <a:ext cx="4607718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utfit"/>
              </a:rPr>
              <a:t>Payment Fees:</a:t>
            </a:r>
            <a:r>
              <a:rPr sz="2100" b="0" i="0" u="none">
                <a:solidFill>
                  <a:srgbClr val="0F172A"/>
                </a:solidFill>
                <a:latin typeface="Outfit"/>
              </a:rPr>
              <a:t> 13.8% total loss.</a:t>
            </a:r>
            <a:endParaRPr sz="2100" b="0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76400" y="4814887"/>
            <a:ext cx="5226843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utfit"/>
              </a:rPr>
              <a:t>Forward Shipping:</a:t>
            </a:r>
            <a:r>
              <a:rPr sz="2100" b="0" i="0" u="none">
                <a:solidFill>
                  <a:srgbClr val="0F172A"/>
                </a:solidFill>
                <a:latin typeface="Outfit"/>
              </a:rPr>
              <a:t> 12.0% total loss.</a:t>
            </a:r>
            <a:endParaRPr sz="2100" b="0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76400" y="6110287"/>
            <a:ext cx="4917281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utfit"/>
              </a:rPr>
              <a:t>Reverse Shipping:</a:t>
            </a:r>
            <a:r>
              <a:rPr sz="2100" b="0" i="0" u="none">
                <a:solidFill>
                  <a:srgbClr val="0F172A"/>
                </a:solidFill>
                <a:latin typeface="Outfit"/>
              </a:rPr>
              <a:t> 2.1% total loss.</a:t>
            </a:r>
            <a:endParaRPr sz="2100" b="0" i="0" u="none">
              <a:solidFill>
                <a:srgbClr val="0F172A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29275"/>
            <a:ext cx="10972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6475" y="3019425"/>
            <a:ext cx="19050" cy="1524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629275"/>
            <a:ext cx="109728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53475" y="5867400"/>
            <a:ext cx="2828925" cy="3810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987" y="2914650"/>
            <a:ext cx="9525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7762" y="2771775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3975" y="5981700"/>
            <a:ext cx="1905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0960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Outfit"/>
              </a:rPr>
              <a:t>MARKET POSITIONING</a:t>
            </a:r>
            <a:endParaRPr sz="1350" b="1" i="0" u="none">
              <a:solidFill>
                <a:srgbClr val="0284C7"/>
              </a:solidFill>
              <a:latin typeface="Outfi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904875"/>
            <a:ext cx="115824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Outfit"/>
              </a:rPr>
              <a:t>Competitor Margin Alignment</a:t>
            </a:r>
            <a:endParaRPr sz="36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5962650"/>
            <a:ext cx="2452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Outfit"/>
              </a:rPr>
              <a:t>Domain Competitor Analysis</a:t>
            </a:r>
            <a:endParaRPr sz="1200" b="1" i="0" u="none">
              <a:solidFill>
                <a:srgbClr val="64748B"/>
              </a:solidFill>
              <a:latin typeface="Outfi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90" y="3905250"/>
            <a:ext cx="6084093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Outfit"/>
              </a:rPr>
              <a:t>Current Status</a:t>
            </a:r>
            <a:endParaRPr sz="24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90" y="4362450"/>
            <a:ext cx="608409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475569"/>
                </a:solidFill>
                <a:latin typeface="Outfit"/>
              </a:rPr>
              <a:t>34.7% fashion margin.</a:t>
            </a:r>
            <a:endParaRPr sz="1800" b="0" i="0" u="none">
              <a:solidFill>
                <a:srgbClr val="475569"/>
              </a:solidFill>
              <a:latin typeface="Outfi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06715" y="3762375"/>
            <a:ext cx="6084093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Outfit"/>
              </a:rPr>
              <a:t>Industry Target</a:t>
            </a:r>
            <a:endParaRPr sz="24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06715" y="4219575"/>
            <a:ext cx="6084093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475569"/>
                </a:solidFill>
                <a:latin typeface="Outfit"/>
              </a:rPr>
              <a:t>Benchmark unachieved. Strict quality controls required.</a:t>
            </a:r>
            <a:endParaRPr sz="1800" b="0" i="0" u="none">
              <a:solidFill>
                <a:srgbClr val="475569"/>
              </a:solidFill>
              <a:latin typeface="Outfi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10675" y="5962650"/>
            <a:ext cx="27265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Outfit"/>
              </a:rPr>
              <a:t>ACCESS LIVE DASHBOARD</a:t>
            </a:r>
            <a:endParaRPr sz="1200" b="1" i="0" u="none">
              <a:solidFill>
                <a:srgbClr val="0284C7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29275"/>
            <a:ext cx="10972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629275"/>
            <a:ext cx="109728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53475" y="5867400"/>
            <a:ext cx="2828925" cy="3810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90700" y="3062287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15000" y="3062287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39300" y="3062287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3705225"/>
            <a:ext cx="1905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2900" y="3705225"/>
            <a:ext cx="1905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5" y="5981700"/>
            <a:ext cx="1905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A580C"/>
                </a:solidFill>
                <a:latin typeface="Outfit"/>
              </a:rPr>
              <a:t>ACTION PLAN</a:t>
            </a:r>
            <a:endParaRPr sz="1350" b="1" i="0" u="none">
              <a:solidFill>
                <a:srgbClr val="EA580C"/>
              </a:solidFill>
              <a:latin typeface="Outfi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904875"/>
            <a:ext cx="115824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Outfit"/>
              </a:rPr>
              <a:t>Strategic Operations Turnaround</a:t>
            </a:r>
            <a:endParaRPr sz="36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600" y="5962650"/>
            <a:ext cx="24407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Outfit"/>
              </a:rPr>
              <a:t>Strategic Recommendations</a:t>
            </a:r>
            <a:endParaRPr sz="1200" b="1" i="0" u="none">
              <a:solidFill>
                <a:srgbClr val="64748B"/>
              </a:solidFill>
              <a:latin typeface="Outfi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47825" y="3062287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u="none">
                <a:solidFill>
                  <a:srgbClr val="FFFFFF"/>
                </a:solidFill>
                <a:latin typeface="Outfit"/>
              </a:rPr>
              <a:t>1</a:t>
            </a:r>
            <a:endParaRPr sz="2400" b="1" i="0" u="none">
              <a:solidFill>
                <a:srgbClr val="FFFFFF"/>
              </a:solidFill>
              <a:latin typeface="Outfi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1443" y="4052887"/>
            <a:ext cx="41005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Outfit"/>
              </a:rPr>
              <a:t>Phase 1</a:t>
            </a:r>
            <a:endParaRPr sz="18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9075" y="4414837"/>
            <a:ext cx="39052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Outfit"/>
              </a:rPr>
              <a:t>Weight-based shipping fees.</a:t>
            </a:r>
            <a:endParaRPr sz="1500" b="0" i="0" u="none">
              <a:solidFill>
                <a:srgbClr val="475569"/>
              </a:solidFill>
              <a:latin typeface="Outfi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572125" y="3062287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u="none">
                <a:solidFill>
                  <a:srgbClr val="FFFFFF"/>
                </a:solidFill>
                <a:latin typeface="Outfit"/>
              </a:rPr>
              <a:t>2</a:t>
            </a:r>
            <a:endParaRPr sz="2400" b="1" i="0" u="none">
              <a:solidFill>
                <a:srgbClr val="FFFFFF"/>
              </a:solidFill>
              <a:latin typeface="Outfi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45743" y="4052887"/>
            <a:ext cx="41005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Outfit"/>
              </a:rPr>
              <a:t>Phase 2</a:t>
            </a:r>
            <a:endParaRPr sz="18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43375" y="4414837"/>
            <a:ext cx="39052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Outfit"/>
              </a:rPr>
              <a:t>Volume-based discount tiers.</a:t>
            </a:r>
            <a:endParaRPr sz="1500" b="0" i="0" u="none">
              <a:solidFill>
                <a:srgbClr val="475569"/>
              </a:solidFill>
              <a:latin typeface="Outfi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96425" y="3062287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u="none">
                <a:solidFill>
                  <a:srgbClr val="FFFFFF"/>
                </a:solidFill>
                <a:latin typeface="Outfit"/>
              </a:rPr>
              <a:t>3</a:t>
            </a:r>
            <a:endParaRPr sz="2400" b="1" i="0" u="none">
              <a:solidFill>
                <a:srgbClr val="FFFFFF"/>
              </a:solidFill>
              <a:latin typeface="Outfi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70043" y="4052887"/>
            <a:ext cx="41005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Outfit"/>
              </a:rPr>
              <a:t>Phase 3</a:t>
            </a:r>
            <a:endParaRPr sz="18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67675" y="4414837"/>
            <a:ext cx="39052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Outfit"/>
              </a:rPr>
              <a:t>Low-fee gateway prioritization.</a:t>
            </a:r>
            <a:endParaRPr sz="1500" b="0" i="0" u="none">
              <a:solidFill>
                <a:srgbClr val="475569"/>
              </a:solidFill>
              <a:latin typeface="Outfi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10675" y="5962650"/>
            <a:ext cx="27265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Outfit"/>
              </a:rPr>
              <a:t>ACCESS LIVE DASHBOARD</a:t>
            </a:r>
            <a:endParaRPr sz="1200" b="1" i="0" u="none">
              <a:solidFill>
                <a:srgbClr val="0284C7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29275"/>
            <a:ext cx="10972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62927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53475" y="5867400"/>
            <a:ext cx="2828925" cy="3810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209925"/>
            <a:ext cx="1000125" cy="114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5" y="5981700"/>
            <a:ext cx="1905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029" y="3314700"/>
            <a:ext cx="304800" cy="323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029" y="3933825"/>
            <a:ext cx="304800" cy="32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0960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EA5E9"/>
                </a:solidFill>
                <a:latin typeface="Outfit"/>
              </a:rPr>
              <a:t>INFRASTRUCTURE STATUS</a:t>
            </a:r>
            <a:endParaRPr sz="1350" b="1" i="0" u="none">
              <a:solidFill>
                <a:srgbClr val="0EA5E9"/>
              </a:solidFill>
              <a:latin typeface="Outfi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904875"/>
            <a:ext cx="115824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SQL Data Integrity Enforced</a:t>
            </a:r>
            <a:endParaRPr sz="3600" b="1" i="0" u="none">
              <a:solidFill>
                <a:srgbClr val="F8FAFC"/>
              </a:solidFill>
              <a:latin typeface="Outfi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5962650"/>
            <a:ext cx="19645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Outfit"/>
              </a:rPr>
              <a:t>Task 15: Exec Summary</a:t>
            </a:r>
            <a:endParaRPr sz="1200" b="1" i="0" u="none">
              <a:solidFill>
                <a:srgbClr val="94A3B8"/>
              </a:solidFill>
              <a:latin typeface="Outfi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10675" y="5962650"/>
            <a:ext cx="27265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Outfit"/>
              </a:rPr>
              <a:t>ACCESS LIVE DASHBOARD</a:t>
            </a:r>
            <a:endParaRPr sz="1200" b="1" i="0" u="none">
              <a:solidFill>
                <a:srgbClr val="F8FAFC"/>
              </a:solidFill>
              <a:latin typeface="Outfi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60899" y="3314700"/>
            <a:ext cx="70611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0B981"/>
                </a:solidFill>
                <a:latin typeface="Outfit"/>
              </a:rPr>
              <a:t>Data Cleansed:</a:t>
            </a:r>
            <a:r>
              <a:rPr sz="2400" b="1" i="0" u="none">
                <a:solidFill>
                  <a:srgbClr val="10B981"/>
                </a:solidFill>
                <a:latin typeface="Outfit"/>
              </a:rPr>
              <a:t> Orphaned records eliminated.</a:t>
            </a:r>
            <a:endParaRPr sz="2400" b="1" i="0" u="none">
              <a:solidFill>
                <a:srgbClr val="10B981"/>
              </a:solidFill>
              <a:latin typeface="Outfi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60899" y="3914775"/>
            <a:ext cx="70611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EA5E9"/>
                </a:solidFill>
                <a:latin typeface="Outfit"/>
              </a:rPr>
              <a:t>Architecture:</a:t>
            </a:r>
            <a:r>
              <a:rPr sz="2400" b="1" i="0" u="none">
                <a:solidFill>
                  <a:srgbClr val="0EA5E9"/>
                </a:solidFill>
                <a:latin typeface="Outfit"/>
              </a:rPr>
              <a:t> Real-time dashboard deployed.</a:t>
            </a:r>
            <a:endParaRPr sz="2400" b="1" i="0" u="none">
              <a:solidFill>
                <a:srgbClr val="0EA5E9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10" y="-9525"/>
            <a:ext cx="10707370" cy="69253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2294</Words>
  <Application>WPS Presentation</Application>
  <PresentationFormat>On-screen Show (4:3)</PresentationFormat>
  <Paragraphs>210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Arial</vt:lpstr>
      <vt:lpstr>Outfit</vt:lpstr>
      <vt:lpstr>Liberation Mono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Praveen TP</cp:lastModifiedBy>
  <cp:revision>6</cp:revision>
  <dcterms:created xsi:type="dcterms:W3CDTF">2013-01-27T09:14:00Z</dcterms:created>
  <dcterms:modified xsi:type="dcterms:W3CDTF">2026-10-17T18:01:06Z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BA36C4EFBC8D42C08E832D951894F11C_13</vt:lpwstr>
  </property>
</Properties>
</file>